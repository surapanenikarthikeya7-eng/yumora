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0" y="320040"/>
            <a:ext cx="640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AFAFAF"/>
                </a:solidFill>
                <a:latin typeface="Aptos Display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114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DCB45A"/>
                </a:solidFill>
                <a:latin typeface="Aptos Display"/>
              </a:rPr>
              <a:t>YUMORA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5156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 Display"/>
              </a:rPr>
              <a:t>Discover the Best Food Anywhere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1078992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0">
                <a:solidFill>
                  <a:srgbClr val="AFAFAF"/>
                </a:solidFill>
                <a:latin typeface="Aptos"/>
              </a:rPr>
              <a:t>Helping people discover, access, and enjoy great food — wherever they 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5F5F5"/>
                </a:solidFill>
                <a:latin typeface="Aptos Display"/>
              </a:rPr>
              <a:t>Food discovery  •  Restaurants  •  Local food  •  Street food  •  Personalized recommendations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3154680"/>
            <a:ext cx="52120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DCB45A"/>
                </a:solidFill>
                <a:latin typeface="Aptos Display"/>
              </a:rPr>
              <a:t>FOOD  •  PEOPLE  •  PLACES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0" y="320040"/>
            <a:ext cx="640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AFAFAF"/>
                </a:solidFill>
                <a:latin typeface="Aptos Display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114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DCB45A"/>
                </a:solidFill>
                <a:latin typeface="Aptos Display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5156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 Display"/>
              </a:rPr>
              <a:t>Finding Good Food Is Still Difficult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166360" cy="960120"/>
          </a:xfrm>
          <a:prstGeom prst="roundRect">
            <a:avLst/>
          </a:prstGeom>
          <a:solidFill>
            <a:srgbClr val="181818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4709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DCB45A"/>
                </a:solidFill>
                <a:latin typeface="Aptos Display"/>
              </a:rPr>
              <a:t>Too many food platforms and scattered information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47091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83080"/>
            <a:ext cx="5166360" cy="960120"/>
          </a:xfrm>
          <a:prstGeom prst="roundRect">
            <a:avLst/>
          </a:prstGeom>
          <a:solidFill>
            <a:srgbClr val="181818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920240"/>
            <a:ext cx="4709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DCB45A"/>
                </a:solidFill>
                <a:latin typeface="Aptos Display"/>
              </a:rPr>
              <a:t>Hidden local food spots are difficult to 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377440"/>
            <a:ext cx="47091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17520"/>
            <a:ext cx="5166360" cy="960120"/>
          </a:xfrm>
          <a:prstGeom prst="roundRect">
            <a:avLst/>
          </a:prstGeom>
          <a:solidFill>
            <a:srgbClr val="181818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154679"/>
            <a:ext cx="4709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DCB45A"/>
                </a:solidFill>
                <a:latin typeface="Aptos Display"/>
              </a:rPr>
              <a:t>Travelers may not know what food is popular nearby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611879"/>
            <a:ext cx="47091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017520"/>
            <a:ext cx="5166360" cy="960120"/>
          </a:xfrm>
          <a:prstGeom prst="roundRect">
            <a:avLst/>
          </a:prstGeom>
          <a:solidFill>
            <a:srgbClr val="181818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154679"/>
            <a:ext cx="4709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DCB45A"/>
                </a:solidFill>
                <a:latin typeface="Aptos Display"/>
              </a:rPr>
              <a:t>Budget and preference-based choices take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611879"/>
            <a:ext cx="47091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251960"/>
            <a:ext cx="5166360" cy="960120"/>
          </a:xfrm>
          <a:prstGeom prst="roundRect">
            <a:avLst/>
          </a:prstGeom>
          <a:solidFill>
            <a:srgbClr val="181818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389120"/>
            <a:ext cx="4709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DCB45A"/>
                </a:solidFill>
                <a:latin typeface="Aptos Display"/>
              </a:rPr>
              <a:t>Small restaurants may struggle to get visibility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46320"/>
            <a:ext cx="47091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251960"/>
            <a:ext cx="5166360" cy="960120"/>
          </a:xfrm>
          <a:prstGeom prst="roundRect">
            <a:avLst/>
          </a:prstGeom>
          <a:solidFill>
            <a:srgbClr val="181818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389120"/>
            <a:ext cx="4709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DCB45A"/>
                </a:solidFill>
                <a:latin typeface="Aptos Display"/>
              </a:rPr>
              <a:t>Users often search across multiple platforms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846320"/>
            <a:ext cx="47091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0" y="320040"/>
            <a:ext cx="640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AFAFAF"/>
                </a:solidFill>
                <a:latin typeface="Aptos Display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114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DCB45A"/>
                </a:solidFill>
                <a:latin typeface="Aptos Display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5156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 Display"/>
              </a:rPr>
              <a:t>Introducing YUMORA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166360" cy="960120"/>
          </a:xfrm>
          <a:prstGeom prst="roundRect">
            <a:avLst/>
          </a:prstGeom>
          <a:solidFill>
            <a:srgbClr val="181818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4709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DCB45A"/>
                </a:solidFill>
                <a:latin typeface="Aptos Display"/>
              </a:rPr>
              <a:t>YUMORA brings food discovery into one intelligent platform.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47091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83080"/>
            <a:ext cx="5166360" cy="960120"/>
          </a:xfrm>
          <a:prstGeom prst="roundRect">
            <a:avLst/>
          </a:prstGeom>
          <a:solidFill>
            <a:srgbClr val="181818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920240"/>
            <a:ext cx="4709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DCB45A"/>
                </a:solidFill>
                <a:latin typeface="Aptos Display"/>
              </a:rPr>
              <a:t>Search food and restaurants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377440"/>
            <a:ext cx="47091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17520"/>
            <a:ext cx="5166360" cy="960120"/>
          </a:xfrm>
          <a:prstGeom prst="roundRect">
            <a:avLst/>
          </a:prstGeom>
          <a:solidFill>
            <a:srgbClr val="181818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154679"/>
            <a:ext cx="4709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DCB45A"/>
                </a:solidFill>
                <a:latin typeface="Aptos Display"/>
              </a:rPr>
              <a:t>Discover nearby and local food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611879"/>
            <a:ext cx="47091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017520"/>
            <a:ext cx="5166360" cy="960120"/>
          </a:xfrm>
          <a:prstGeom prst="roundRect">
            <a:avLst/>
          </a:prstGeom>
          <a:solidFill>
            <a:srgbClr val="181818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154679"/>
            <a:ext cx="4709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DCB45A"/>
                </a:solidFill>
                <a:latin typeface="Aptos Display"/>
              </a:rPr>
              <a:t>Explore regional specialties and hidden gems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611879"/>
            <a:ext cx="47091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251960"/>
            <a:ext cx="5166360" cy="960120"/>
          </a:xfrm>
          <a:prstGeom prst="roundRect">
            <a:avLst/>
          </a:prstGeom>
          <a:solidFill>
            <a:srgbClr val="181818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389120"/>
            <a:ext cx="4709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DCB45A"/>
                </a:solidFill>
                <a:latin typeface="Aptos Display"/>
              </a:rPr>
              <a:t>View locations and get directions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46320"/>
            <a:ext cx="47091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251960"/>
            <a:ext cx="5166360" cy="960120"/>
          </a:xfrm>
          <a:prstGeom prst="roundRect">
            <a:avLst/>
          </a:prstGeom>
          <a:solidFill>
            <a:srgbClr val="181818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389120"/>
            <a:ext cx="4709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DCB45A"/>
                </a:solidFill>
                <a:latin typeface="Aptos Display"/>
              </a:rPr>
              <a:t>Discover food based on interests and preferences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846320"/>
            <a:ext cx="47091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486400"/>
            <a:ext cx="5166360" cy="960120"/>
          </a:xfrm>
          <a:prstGeom prst="roundRect">
            <a:avLst/>
          </a:prstGeom>
          <a:solidFill>
            <a:srgbClr val="181818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623560"/>
            <a:ext cx="4709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DCB45A"/>
                </a:solidFill>
                <a:latin typeface="Aptos Display"/>
              </a:rPr>
              <a:t>DISCOVER  →  EXPLORE  →  ACCESS  →  ENJOY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6080760"/>
            <a:ext cx="47091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0" y="320040"/>
            <a:ext cx="640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AFAFAF"/>
                </a:solidFill>
                <a:latin typeface="Aptos Display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114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DCB45A"/>
                </a:solidFill>
                <a:latin typeface="Aptos Display"/>
              </a:rPr>
              <a:t>HOW YUMORA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5156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 Display"/>
              </a:rPr>
              <a:t>A Simple Food Discovery Journey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1965960" cy="1828800"/>
          </a:xfrm>
          <a:prstGeom prst="roundRect">
            <a:avLst/>
          </a:prstGeom>
          <a:solidFill>
            <a:srgbClr val="181818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468879"/>
            <a:ext cx="15087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DCB45A"/>
                </a:solidFill>
                <a:latin typeface="Aptos Display"/>
              </a:rPr>
              <a:t>Open YUMORA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26079"/>
            <a:ext cx="150876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15184" y="2926080"/>
            <a:ext cx="3200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DCB45A"/>
                </a:solidFill>
                <a:latin typeface="Aptos Display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2331720"/>
            <a:ext cx="1965960" cy="1828800"/>
          </a:xfrm>
          <a:prstGeom prst="roundRect">
            <a:avLst/>
          </a:prstGeom>
          <a:solidFill>
            <a:srgbClr val="181818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2468879"/>
            <a:ext cx="15087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DCB45A"/>
                </a:solidFill>
                <a:latin typeface="Aptos Display"/>
              </a:rPr>
              <a:t>Search for Food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926079"/>
            <a:ext cx="150876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55464" y="2926080"/>
            <a:ext cx="3200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DCB45A"/>
                </a:solidFill>
                <a:latin typeface="Aptos Display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2331720"/>
            <a:ext cx="1965960" cy="1828800"/>
          </a:xfrm>
          <a:prstGeom prst="roundRect">
            <a:avLst/>
          </a:prstGeom>
          <a:solidFill>
            <a:srgbClr val="181818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2468879"/>
            <a:ext cx="15087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DCB45A"/>
                </a:solidFill>
                <a:latin typeface="Aptos Display"/>
              </a:rPr>
              <a:t>Discover Restaurants &amp; Dishes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2926079"/>
            <a:ext cx="150876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95744" y="2926080"/>
            <a:ext cx="3200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DCB45A"/>
                </a:solidFill>
                <a:latin typeface="Aptos Display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2331720"/>
            <a:ext cx="1965960" cy="1828800"/>
          </a:xfrm>
          <a:prstGeom prst="roundRect">
            <a:avLst/>
          </a:prstGeom>
          <a:solidFill>
            <a:srgbClr val="181818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0" y="2468879"/>
            <a:ext cx="15087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DCB45A"/>
                </a:solidFill>
                <a:latin typeface="Aptos Display"/>
              </a:rPr>
              <a:t>Check Location &amp; Get Directions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926079"/>
            <a:ext cx="150876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36024" y="2926080"/>
            <a:ext cx="3200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DCB45A"/>
                </a:solidFill>
                <a:latin typeface="Aptos Display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2331720"/>
            <a:ext cx="1965960" cy="1828800"/>
          </a:xfrm>
          <a:prstGeom prst="roundRect">
            <a:avLst/>
          </a:prstGeom>
          <a:solidFill>
            <a:srgbClr val="181818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29800" y="2468879"/>
            <a:ext cx="15087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DCB45A"/>
                </a:solidFill>
                <a:latin typeface="Aptos Display"/>
              </a:rPr>
              <a:t>Visit &amp; Enjoy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2926079"/>
            <a:ext cx="150876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0" y="320040"/>
            <a:ext cx="640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AFAFAF"/>
                </a:solidFill>
                <a:latin typeface="Aptos Display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114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DCB45A"/>
                </a:solidFill>
                <a:latin typeface="Aptos Display"/>
              </a:rP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5156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 Display"/>
              </a:rPr>
              <a:t>What YUMORA Offers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166360" cy="960120"/>
          </a:xfrm>
          <a:prstGeom prst="roundRect">
            <a:avLst/>
          </a:prstGeom>
          <a:solidFill>
            <a:srgbClr val="181818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4709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DCB45A"/>
                </a:solidFill>
                <a:latin typeface="Aptos Display"/>
              </a:rPr>
              <a:t>Smart Food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47091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>dishes, restaurants, cuisines and categories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83080"/>
            <a:ext cx="5166360" cy="960120"/>
          </a:xfrm>
          <a:prstGeom prst="roundRect">
            <a:avLst/>
          </a:prstGeom>
          <a:solidFill>
            <a:srgbClr val="181818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920240"/>
            <a:ext cx="4709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DCB45A"/>
                </a:solidFill>
                <a:latin typeface="Aptos Display"/>
              </a:rPr>
              <a:t>Location-Based Discovery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377440"/>
            <a:ext cx="47091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>find food around you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17520"/>
            <a:ext cx="5166360" cy="960120"/>
          </a:xfrm>
          <a:prstGeom prst="roundRect">
            <a:avLst/>
          </a:prstGeom>
          <a:solidFill>
            <a:srgbClr val="181818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154679"/>
            <a:ext cx="4709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DCB45A"/>
                </a:solidFill>
                <a:latin typeface="Aptos Display"/>
              </a:rPr>
              <a:t>Restaurant Discovery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611879"/>
            <a:ext cx="47091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>explore food places in one platform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017520"/>
            <a:ext cx="5166360" cy="960120"/>
          </a:xfrm>
          <a:prstGeom prst="roundRect">
            <a:avLst/>
          </a:prstGeom>
          <a:solidFill>
            <a:srgbClr val="181818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154679"/>
            <a:ext cx="4709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DCB45A"/>
                </a:solidFill>
                <a:latin typeface="Aptos Display"/>
              </a:rPr>
              <a:t>Hidden Gems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611879"/>
            <a:ext cx="47091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>discover lesser-known local spots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251960"/>
            <a:ext cx="5166360" cy="960120"/>
          </a:xfrm>
          <a:prstGeom prst="roundRect">
            <a:avLst/>
          </a:prstGeom>
          <a:solidFill>
            <a:srgbClr val="181818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389120"/>
            <a:ext cx="4709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DCB45A"/>
                </a:solidFill>
                <a:latin typeface="Aptos Display"/>
              </a:rPr>
              <a:t>Food Exploration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46320"/>
            <a:ext cx="47091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>street food, regional specialties and trends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251960"/>
            <a:ext cx="5166360" cy="960120"/>
          </a:xfrm>
          <a:prstGeom prst="roundRect">
            <a:avLst/>
          </a:prstGeom>
          <a:solidFill>
            <a:srgbClr val="181818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389120"/>
            <a:ext cx="4709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DCB45A"/>
                </a:solidFill>
                <a:latin typeface="Aptos Display"/>
              </a:rPr>
              <a:t>Google Maps Directions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846320"/>
            <a:ext cx="47091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>navigate to selected restaurants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0" y="320040"/>
            <a:ext cx="640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AFAFAF"/>
                </a:solidFill>
                <a:latin typeface="Aptos Display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114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DCB45A"/>
                </a:solidFill>
                <a:latin typeface="Aptos Display"/>
              </a:rPr>
              <a:t>PERSONALIZED FOOD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5156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 Display"/>
              </a:rPr>
              <a:t>Food That Matches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5F5F5"/>
                </a:solidFill>
                <a:latin typeface="Aptos Display"/>
              </a:rPr>
              <a:t>Location  •  Cuisine preference  •  Budget  •  Dietary preferences  •  Food interests  •  Previous searches  •  Trends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20116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DCB45A"/>
                </a:solidFill>
                <a:latin typeface="Aptos Display"/>
              </a:rPr>
              <a:t>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657600"/>
            <a:ext cx="7315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F5F5F5"/>
                </a:solidFill>
                <a:latin typeface="Aptos Display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3246120"/>
            <a:ext cx="320040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5F5F5"/>
                </a:solidFill>
                <a:latin typeface="Aptos Display"/>
              </a:rPr>
              <a:t>YUMORA
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3657600"/>
            <a:ext cx="7315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F5F5F5"/>
                </a:solidFill>
                <a:latin typeface="Aptos Display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3246120"/>
            <a:ext cx="320040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DCB45A"/>
                </a:solidFill>
                <a:latin typeface="Aptos Display"/>
              </a:rPr>
              <a:t>RECOMMENDED
FOOD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0" y="320040"/>
            <a:ext cx="640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AFAFAF"/>
                </a:solidFill>
                <a:latin typeface="Aptos Display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114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DCB45A"/>
                </a:solidFill>
                <a:latin typeface="Aptos Display"/>
              </a:rPr>
              <a:t>YUMORA FOR EVERYONE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5156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 Display"/>
              </a:rPr>
              <a:t>One Platform, Many Food Experiences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166360" cy="1143000"/>
          </a:xfrm>
          <a:prstGeom prst="roundRect">
            <a:avLst/>
          </a:prstGeom>
          <a:solidFill>
            <a:srgbClr val="181818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4709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DCB45A"/>
                </a:solidFill>
                <a:latin typeface="Aptos Display"/>
              </a:rPr>
              <a:t>LOCAL 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4709160" cy="41147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>Discover new restaurants and food nearby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83080"/>
            <a:ext cx="5166360" cy="1143000"/>
          </a:xfrm>
          <a:prstGeom prst="roundRect">
            <a:avLst/>
          </a:prstGeom>
          <a:solidFill>
            <a:srgbClr val="181818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920240"/>
            <a:ext cx="4709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DCB45A"/>
                </a:solidFill>
                <a:latin typeface="Aptos Display"/>
              </a:rPr>
              <a:t>STUDENTS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377440"/>
            <a:ext cx="4709160" cy="41147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>Find affordable food options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46120"/>
            <a:ext cx="5166360" cy="1143000"/>
          </a:xfrm>
          <a:prstGeom prst="roundRect">
            <a:avLst/>
          </a:prstGeom>
          <a:solidFill>
            <a:srgbClr val="181818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383279"/>
            <a:ext cx="4709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DCB45A"/>
                </a:solidFill>
                <a:latin typeface="Aptos Display"/>
              </a:rPr>
              <a:t>TRAVELERS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40480"/>
            <a:ext cx="4709160" cy="41147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>Discover local and regional specialties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246120"/>
            <a:ext cx="5166360" cy="1143000"/>
          </a:xfrm>
          <a:prstGeom prst="roundRect">
            <a:avLst/>
          </a:prstGeom>
          <a:solidFill>
            <a:srgbClr val="181818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383279"/>
            <a:ext cx="4709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DCB45A"/>
                </a:solidFill>
                <a:latin typeface="Aptos Display"/>
              </a:rPr>
              <a:t>FOOD LOVERS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840480"/>
            <a:ext cx="4709160" cy="41147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>Explore cuisines, dishes and hidden gems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09160"/>
            <a:ext cx="5166360" cy="1143000"/>
          </a:xfrm>
          <a:prstGeom prst="roundRect">
            <a:avLst/>
          </a:prstGeom>
          <a:solidFill>
            <a:srgbClr val="181818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846320"/>
            <a:ext cx="4709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DCB45A"/>
                </a:solidFill>
                <a:latin typeface="Aptos Display"/>
              </a:rPr>
              <a:t>RESTAURANTS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303520"/>
            <a:ext cx="4709160" cy="41147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>Increase visibility and reach new customers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0" y="320040"/>
            <a:ext cx="640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AFAFAF"/>
                </a:solidFill>
                <a:latin typeface="Aptos Display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114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DCB45A"/>
                </a:solidFill>
                <a:latin typeface="Aptos Display"/>
              </a:rPr>
              <a:t>TECHNOLOGY BEHIND YUMORA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5156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 Display"/>
              </a:rPr>
              <a:t>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166360" cy="960120"/>
          </a:xfrm>
          <a:prstGeom prst="roundRect">
            <a:avLst/>
          </a:prstGeom>
          <a:solidFill>
            <a:srgbClr val="181818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4709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DCB45A"/>
                </a:solidFill>
                <a:latin typeface="Aptos Display"/>
              </a:rPr>
              <a:t>Frontend: HTML / CSS / JavaScript • React or Next.js • Responsive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47091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83080"/>
            <a:ext cx="5166360" cy="960120"/>
          </a:xfrm>
          <a:prstGeom prst="roundRect">
            <a:avLst/>
          </a:prstGeom>
          <a:solidFill>
            <a:srgbClr val="181818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920240"/>
            <a:ext cx="4709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DCB45A"/>
                </a:solidFill>
                <a:latin typeface="Aptos Display"/>
              </a:rPr>
              <a:t>Backend: Node.js • Express.js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377440"/>
            <a:ext cx="47091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17520"/>
            <a:ext cx="5166360" cy="960120"/>
          </a:xfrm>
          <a:prstGeom prst="roundRect">
            <a:avLst/>
          </a:prstGeom>
          <a:solidFill>
            <a:srgbClr val="181818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154679"/>
            <a:ext cx="4709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DCB45A"/>
                </a:solidFill>
                <a:latin typeface="Aptos Display"/>
              </a:rPr>
              <a:t>Database: MongoDB / PostgreSQL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611879"/>
            <a:ext cx="47091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017520"/>
            <a:ext cx="5166360" cy="960120"/>
          </a:xfrm>
          <a:prstGeom prst="roundRect">
            <a:avLst/>
          </a:prstGeom>
          <a:solidFill>
            <a:srgbClr val="181818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154679"/>
            <a:ext cx="4709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DCB45A"/>
                </a:solidFill>
                <a:latin typeface="Aptos Display"/>
              </a:rPr>
              <a:t>APIs: Maps &amp; Location • Food/Restaurant Data • Authentication • Email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611879"/>
            <a:ext cx="47091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251960"/>
            <a:ext cx="5166360" cy="960120"/>
          </a:xfrm>
          <a:prstGeom prst="roundRect">
            <a:avLst/>
          </a:prstGeom>
          <a:solidFill>
            <a:srgbClr val="181818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389120"/>
            <a:ext cx="4709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DCB45A"/>
                </a:solidFill>
                <a:latin typeface="Aptos Display"/>
              </a:rPr>
              <a:t>Intelligence: Recommendation System • Search • Filtering • Location Discovery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46320"/>
            <a:ext cx="47091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251960"/>
            <a:ext cx="5166360" cy="960120"/>
          </a:xfrm>
          <a:prstGeom prst="roundRect">
            <a:avLst/>
          </a:prstGeom>
          <a:solidFill>
            <a:srgbClr val="181818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389120"/>
            <a:ext cx="4709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DCB45A"/>
                </a:solidFill>
                <a:latin typeface="Aptos Display"/>
              </a:rPr>
              <a:t>Architecture: User → YUMORA Website → Backend/API → Database + Maps + Recommendation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846320"/>
            <a:ext cx="47091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0" y="320040"/>
            <a:ext cx="640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AFAFAF"/>
                </a:solidFill>
                <a:latin typeface="Aptos Display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114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DCB45A"/>
                </a:solidFill>
                <a:latin typeface="Aptos Display"/>
              </a:rPr>
              <a:t>ADMIN &amp; RESTAURANT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5156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 Display"/>
              </a:rPr>
              <a:t>Powerful Management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166360" cy="960120"/>
          </a:xfrm>
          <a:prstGeom prst="roundRect">
            <a:avLst/>
          </a:prstGeom>
          <a:solidFill>
            <a:srgbClr val="181818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4709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DCB45A"/>
                </a:solidFill>
                <a:latin typeface="Aptos Display"/>
              </a:rPr>
              <a:t>Restaurant images and names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47091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83080"/>
            <a:ext cx="5166360" cy="960120"/>
          </a:xfrm>
          <a:prstGeom prst="roundRect">
            <a:avLst/>
          </a:prstGeom>
          <a:solidFill>
            <a:srgbClr val="181818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920240"/>
            <a:ext cx="4709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DCB45A"/>
                </a:solidFill>
                <a:latin typeface="Aptos Display"/>
              </a:rPr>
              <a:t>Restaurant locations and information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377440"/>
            <a:ext cx="47091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17520"/>
            <a:ext cx="5166360" cy="960120"/>
          </a:xfrm>
          <a:prstGeom prst="roundRect">
            <a:avLst/>
          </a:prstGeom>
          <a:solidFill>
            <a:srgbClr val="181818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154679"/>
            <a:ext cx="4709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DCB45A"/>
                </a:solidFill>
                <a:latin typeface="Aptos Display"/>
              </a:rPr>
              <a:t>Food listings and discovery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611879"/>
            <a:ext cx="47091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017520"/>
            <a:ext cx="5166360" cy="960120"/>
          </a:xfrm>
          <a:prstGeom prst="roundRect">
            <a:avLst/>
          </a:prstGeom>
          <a:solidFill>
            <a:srgbClr val="181818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154679"/>
            <a:ext cx="4709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DCB45A"/>
                </a:solidFill>
                <a:latin typeface="Aptos Display"/>
              </a:rPr>
              <a:t>User login information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611879"/>
            <a:ext cx="47091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251960"/>
            <a:ext cx="5166360" cy="960120"/>
          </a:xfrm>
          <a:prstGeom prst="roundRect">
            <a:avLst/>
          </a:prstGeom>
          <a:solidFill>
            <a:srgbClr val="181818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389120"/>
            <a:ext cx="4709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DCB45A"/>
                </a:solidFill>
                <a:latin typeface="Aptos Display"/>
              </a:rPr>
              <a:t>Manage and update food discovery content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46320"/>
            <a:ext cx="47091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251960"/>
            <a:ext cx="5166360" cy="960120"/>
          </a:xfrm>
          <a:prstGeom prst="roundRect">
            <a:avLst/>
          </a:prstGeom>
          <a:solidFill>
            <a:srgbClr val="181818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389120"/>
            <a:ext cx="4709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DCB45A"/>
                </a:solidFill>
                <a:latin typeface="Aptos Display"/>
              </a:rPr>
              <a:t>Separate administration area for controlled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846320"/>
            <a:ext cx="47091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0" y="320040"/>
            <a:ext cx="640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AFAFAF"/>
                </a:solidFill>
                <a:latin typeface="Aptos Display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114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DCB45A"/>
                </a:solidFill>
                <a:latin typeface="Aptos Display"/>
              </a:rP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5156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 Display"/>
              </a:rPr>
              <a:t>From Food Discovery to a Global Food Network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166360" cy="960120"/>
          </a:xfrm>
          <a:prstGeom prst="roundRect">
            <a:avLst/>
          </a:prstGeom>
          <a:solidFill>
            <a:srgbClr val="181818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4709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DCB45A"/>
                </a:solidFill>
                <a:latin typeface="Aptos Display"/>
              </a:rPr>
              <a:t>AI-powered personalized recommendations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47091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83080"/>
            <a:ext cx="5166360" cy="960120"/>
          </a:xfrm>
          <a:prstGeom prst="roundRect">
            <a:avLst/>
          </a:prstGeom>
          <a:solidFill>
            <a:srgbClr val="181818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920240"/>
            <a:ext cx="4709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DCB45A"/>
                </a:solidFill>
                <a:latin typeface="Aptos Display"/>
              </a:rPr>
              <a:t>Real-time food availability and popularity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377440"/>
            <a:ext cx="47091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17520"/>
            <a:ext cx="5166360" cy="960120"/>
          </a:xfrm>
          <a:prstGeom prst="roundRect">
            <a:avLst/>
          </a:prstGeom>
          <a:solidFill>
            <a:srgbClr val="181818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154679"/>
            <a:ext cx="4709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DCB45A"/>
                </a:solidFill>
                <a:latin typeface="Aptos Display"/>
              </a:rPr>
              <a:t>Multilingual food discovery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611879"/>
            <a:ext cx="47091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017520"/>
            <a:ext cx="5166360" cy="960120"/>
          </a:xfrm>
          <a:prstGeom prst="roundRect">
            <a:avLst/>
          </a:prstGeom>
          <a:solidFill>
            <a:srgbClr val="181818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154679"/>
            <a:ext cx="4709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DCB45A"/>
                </a:solidFill>
                <a:latin typeface="Aptos Display"/>
              </a:rPr>
              <a:t>Expansion from India to global destinations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611879"/>
            <a:ext cx="47091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251960"/>
            <a:ext cx="5166360" cy="960120"/>
          </a:xfrm>
          <a:prstGeom prst="roundRect">
            <a:avLst/>
          </a:prstGeom>
          <a:solidFill>
            <a:srgbClr val="181818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389120"/>
            <a:ext cx="4709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DCB45A"/>
                </a:solidFill>
                <a:latin typeface="Aptos Display"/>
              </a:rPr>
              <a:t>Restaurant partnerships and verified listings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46320"/>
            <a:ext cx="47091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251960"/>
            <a:ext cx="5166360" cy="960120"/>
          </a:xfrm>
          <a:prstGeom prst="roundRect">
            <a:avLst/>
          </a:prstGeom>
          <a:solidFill>
            <a:srgbClr val="181818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389120"/>
            <a:ext cx="4709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DCB45A"/>
                </a:solidFill>
                <a:latin typeface="Aptos Display"/>
              </a:rPr>
              <a:t>Reviews, ratings and community-driven discovery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846320"/>
            <a:ext cx="47091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486400"/>
            <a:ext cx="5166360" cy="960120"/>
          </a:xfrm>
          <a:prstGeom prst="roundRect">
            <a:avLst/>
          </a:prstGeom>
          <a:solidFill>
            <a:srgbClr val="181818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623560"/>
            <a:ext cx="4709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DCB45A"/>
                </a:solidFill>
                <a:latin typeface="Aptos Display"/>
              </a:rPr>
              <a:t>Smart food discovery for travelers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6080760"/>
            <a:ext cx="47091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0" y="320040"/>
            <a:ext cx="640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AFAFAF"/>
                </a:solidFill>
                <a:latin typeface="Aptos Display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114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DCB45A"/>
                </a:solidFill>
                <a:latin typeface="Aptos Display"/>
              </a:rPr>
              <a:t>IMPACT &amp;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5156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 Display"/>
              </a:rPr>
              <a:t>Making Food Discovery Easier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166360" cy="960120"/>
          </a:xfrm>
          <a:prstGeom prst="roundRect">
            <a:avLst/>
          </a:prstGeom>
          <a:solidFill>
            <a:srgbClr val="181818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4709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DCB45A"/>
                </a:solidFill>
                <a:latin typeface="Aptos Display"/>
              </a:rPr>
              <a:t>Users save time finding suitable food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47091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83080"/>
            <a:ext cx="5166360" cy="960120"/>
          </a:xfrm>
          <a:prstGeom prst="roundRect">
            <a:avLst/>
          </a:prstGeom>
          <a:solidFill>
            <a:srgbClr val="181818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920240"/>
            <a:ext cx="4709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DCB45A"/>
                </a:solidFill>
                <a:latin typeface="Aptos Display"/>
              </a:rPr>
              <a:t>Local restaurants and hidden gems gain visibility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377440"/>
            <a:ext cx="47091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17520"/>
            <a:ext cx="5166360" cy="960120"/>
          </a:xfrm>
          <a:prstGeom prst="roundRect">
            <a:avLst/>
          </a:prstGeom>
          <a:solidFill>
            <a:srgbClr val="181818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154679"/>
            <a:ext cx="4709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DCB45A"/>
                </a:solidFill>
                <a:latin typeface="Aptos Display"/>
              </a:rPr>
              <a:t>Travelers can discover authentic local food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611879"/>
            <a:ext cx="47091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017520"/>
            <a:ext cx="5166360" cy="960120"/>
          </a:xfrm>
          <a:prstGeom prst="roundRect">
            <a:avLst/>
          </a:prstGeom>
          <a:solidFill>
            <a:srgbClr val="181818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154679"/>
            <a:ext cx="4709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DCB45A"/>
                </a:solidFill>
                <a:latin typeface="Aptos Display"/>
              </a:rPr>
              <a:t>Food choices become easier and more personalized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611879"/>
            <a:ext cx="47091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251960"/>
            <a:ext cx="5166360" cy="960120"/>
          </a:xfrm>
          <a:prstGeom prst="roundRect">
            <a:avLst/>
          </a:prstGeom>
          <a:solidFill>
            <a:srgbClr val="181818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389120"/>
            <a:ext cx="4709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DCB45A"/>
                </a:solidFill>
                <a:latin typeface="Aptos Display"/>
              </a:rPr>
              <a:t>One platform connects people with food opportunities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46320"/>
            <a:ext cx="47091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251960"/>
            <a:ext cx="5166360" cy="960120"/>
          </a:xfrm>
          <a:prstGeom prst="roundRect">
            <a:avLst/>
          </a:prstGeom>
          <a:solidFill>
            <a:srgbClr val="181818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389120"/>
            <a:ext cx="4709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DCB45A"/>
                </a:solidFill>
                <a:latin typeface="Aptos Display"/>
              </a:rPr>
              <a:t>Vision: Make great food easier to discover anywhere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846320"/>
            <a:ext cx="47091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0" y="320040"/>
            <a:ext cx="640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AFAFAF"/>
                </a:solidFill>
                <a:latin typeface="Aptos Display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114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DCB45A"/>
                </a:solidFill>
                <a:latin typeface="Aptos Display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5156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 Display"/>
              </a:rPr>
              <a:t>YUMORA — Discover. Explore. Enjoy.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241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100" b="1">
                <a:solidFill>
                  <a:srgbClr val="F5F5F5"/>
                </a:solidFill>
                <a:latin typeface="Aptos Display"/>
              </a:rPr>
              <a:t>YUMORA aims to make food discovery simple, accessible and intelligent.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0">
                <a:solidFill>
                  <a:srgbClr val="AFAFAF"/>
                </a:solidFill>
                <a:latin typeface="Aptos"/>
              </a:rPr>
              <a:t>From a nearby street-food spot to a famous restaurant or a regional specialty, YUMORA connects people with food wherever they 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51960"/>
            <a:ext cx="102412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DCB45A"/>
                </a:solidFill>
                <a:latin typeface="Aptos Display"/>
              </a:rPr>
              <a:t>DISCOVER THE FOOD. FIND THE PLACE. ENJOY THE EXPERIENCE.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23560"/>
            <a:ext cx="102412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5F5F5"/>
                </a:solidFill>
                <a:latin typeface="Aptos Display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